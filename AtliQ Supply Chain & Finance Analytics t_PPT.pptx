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Josefin Sans" charset="1" panose="00000500000000000000"/>
      <p:regular r:id="rId19"/>
    </p:embeddedFont>
    <p:embeddedFont>
      <p:font typeface="Open Sans Light" charset="1" panose="00000000000000000000"/>
      <p:regular r:id="rId20"/>
    </p:embeddedFont>
    <p:embeddedFont>
      <p:font typeface="Josefin Sans Light" charset="1" panose="00000400000000000000"/>
      <p:regular r:id="rId21"/>
    </p:embeddedFont>
    <p:embeddedFont>
      <p:font typeface="Josefin Sans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46" y="513682"/>
            <a:ext cx="16405949" cy="9259635"/>
            <a:chOff x="0" y="0"/>
            <a:chExt cx="2541711" cy="143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1711" cy="1434560"/>
            </a:xfrm>
            <a:custGeom>
              <a:avLst/>
              <a:gdLst/>
              <a:ahLst/>
              <a:cxnLst/>
              <a:rect r="r" b="b" t="t" l="l"/>
              <a:pathLst>
                <a:path h="1434560" w="2541711">
                  <a:moveTo>
                    <a:pt x="0" y="0"/>
                  </a:moveTo>
                  <a:lnTo>
                    <a:pt x="2541711" y="0"/>
                  </a:lnTo>
                  <a:lnTo>
                    <a:pt x="2541711" y="1434560"/>
                  </a:lnTo>
                  <a:lnTo>
                    <a:pt x="0" y="143456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-82882" r="0" b="-8288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CFD3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CFD3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376806" y="3294220"/>
            <a:ext cx="12528427" cy="3698560"/>
            <a:chOff x="0" y="0"/>
            <a:chExt cx="3299668" cy="9741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9668" cy="974106"/>
            </a:xfrm>
            <a:custGeom>
              <a:avLst/>
              <a:gdLst/>
              <a:ahLst/>
              <a:cxnLst/>
              <a:rect r="r" b="b" t="t" l="l"/>
              <a:pathLst>
                <a:path h="974106" w="3299668">
                  <a:moveTo>
                    <a:pt x="0" y="0"/>
                  </a:moveTo>
                  <a:lnTo>
                    <a:pt x="3299668" y="0"/>
                  </a:lnTo>
                  <a:lnTo>
                    <a:pt x="3299668" y="974106"/>
                  </a:lnTo>
                  <a:lnTo>
                    <a:pt x="0" y="974106"/>
                  </a:lnTo>
                  <a:close/>
                </a:path>
              </a:pathLst>
            </a:custGeom>
            <a:ln w="19050" cap="sq">
              <a:solidFill>
                <a:srgbClr val="E1E1E1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3299668" cy="964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76806" y="3684393"/>
            <a:ext cx="12528427" cy="29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3"/>
              </a:lnSpc>
            </a:pPr>
            <a:r>
              <a:rPr lang="en-US" sz="7030" spc="2024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ATLIQ SUPPLY CHAIN &amp; FINANCE ANALYTICS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899624" y="2418378"/>
            <a:ext cx="8680617" cy="5450243"/>
            <a:chOff x="0" y="0"/>
            <a:chExt cx="2284827" cy="143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4827" cy="1434560"/>
            </a:xfrm>
            <a:custGeom>
              <a:avLst/>
              <a:gdLst/>
              <a:ahLst/>
              <a:cxnLst/>
              <a:rect r="r" b="b" t="t" l="l"/>
              <a:pathLst>
                <a:path h="1434560" w="2284827">
                  <a:moveTo>
                    <a:pt x="0" y="0"/>
                  </a:moveTo>
                  <a:lnTo>
                    <a:pt x="2284827" y="0"/>
                  </a:lnTo>
                  <a:lnTo>
                    <a:pt x="2284827" y="1434560"/>
                  </a:lnTo>
                  <a:lnTo>
                    <a:pt x="0" y="1434560"/>
                  </a:lnTo>
                  <a:close/>
                </a:path>
              </a:pathLst>
            </a:custGeom>
            <a:blipFill>
              <a:blip r:embed="rId2">
                <a:alphaModFix amt="91000"/>
              </a:blip>
              <a:stretch>
                <a:fillRect l="-229" t="0" r="-22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85850"/>
            <a:ext cx="8115300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49"/>
              </a:lnSpc>
            </a:pPr>
            <a:r>
              <a:rPr lang="en-US" sz="649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0402" y="2220571"/>
            <a:ext cx="6726223" cy="6257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AtliQ operates in the hardware manufacturing and distribution environment, selling products such as mouse, keyboards, laptops and other electronic devices through direct, retail and distributor channels. The project applies SQL-based finance and supply-chain analytics to connect sales, customer, product, pricing, cost, freight, deductions, inventory and forecast information into management-oriented insights.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30539" y="513682"/>
            <a:ext cx="16326063" cy="4034630"/>
            <a:chOff x="0" y="0"/>
            <a:chExt cx="2529334" cy="625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29334" cy="625070"/>
            </a:xfrm>
            <a:custGeom>
              <a:avLst/>
              <a:gdLst/>
              <a:ahLst/>
              <a:cxnLst/>
              <a:rect r="r" b="b" t="t" l="l"/>
              <a:pathLst>
                <a:path h="625070" w="2529334">
                  <a:moveTo>
                    <a:pt x="0" y="0"/>
                  </a:moveTo>
                  <a:lnTo>
                    <a:pt x="2529334" y="0"/>
                  </a:lnTo>
                  <a:lnTo>
                    <a:pt x="2529334" y="625070"/>
                  </a:lnTo>
                  <a:lnTo>
                    <a:pt x="0" y="625070"/>
                  </a:lnTo>
                  <a:close/>
                </a:path>
              </a:pathLst>
            </a:custGeom>
            <a:blipFill>
              <a:blip r:embed="rId2">
                <a:alphaModFix amt="90000"/>
              </a:blip>
              <a:stretch>
                <a:fillRect l="0" t="-7538" r="0" b="-5176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28686" y="5181600"/>
            <a:ext cx="9529768" cy="92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39"/>
              </a:lnSpc>
            </a:pPr>
            <a:r>
              <a:rPr lang="en-US" sz="639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81473" y="6165850"/>
            <a:ext cx="14725055" cy="309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Improve demand planning and identify forecast bias.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Understand customer and product concentration.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Evaluate profitability and discount impact.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Identify freight and inventory efficiency opportunities.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Create a repeatable SQL analytics framework for management reporting.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611316" y="2511575"/>
            <a:ext cx="10647984" cy="6816991"/>
            <a:chOff x="0" y="0"/>
            <a:chExt cx="1649651" cy="10561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9651" cy="1056130"/>
            </a:xfrm>
            <a:custGeom>
              <a:avLst/>
              <a:gdLst/>
              <a:ahLst/>
              <a:cxnLst/>
              <a:rect r="r" b="b" t="t" l="l"/>
              <a:pathLst>
                <a:path h="1056130" w="1649651">
                  <a:moveTo>
                    <a:pt x="0" y="0"/>
                  </a:moveTo>
                  <a:lnTo>
                    <a:pt x="1649651" y="0"/>
                  </a:lnTo>
                  <a:lnTo>
                    <a:pt x="1649651" y="1056130"/>
                  </a:lnTo>
                  <a:lnTo>
                    <a:pt x="0" y="1056130"/>
                  </a:lnTo>
                  <a:close/>
                </a:path>
              </a:pathLst>
            </a:custGeom>
            <a:blipFill>
              <a:blip r:embed="rId2">
                <a:alphaModFix amt="91000"/>
              </a:blip>
              <a:stretch>
                <a:fillRect l="0" t="-2103" r="0" b="-210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672936" y="934759"/>
            <a:ext cx="8942128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sz="699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METHODOLOGIES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7776" y="2170395"/>
            <a:ext cx="5185367" cy="741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Build and validate relational data model.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Join fact and dimension tables.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Calculate sales, revenue, cost and margin KPIs.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Apply customer/product/market comparisons and window functions.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Evaluate forecast variance and inventory movement.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Convert SQL outputs into business actions and data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5837" y="868084"/>
            <a:ext cx="7894828" cy="4744172"/>
            <a:chOff x="0" y="0"/>
            <a:chExt cx="1272838" cy="764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838" cy="764876"/>
            </a:xfrm>
            <a:custGeom>
              <a:avLst/>
              <a:gdLst/>
              <a:ahLst/>
              <a:cxnLst/>
              <a:rect r="r" b="b" t="t" l="l"/>
              <a:pathLst>
                <a:path h="764876" w="1272838">
                  <a:moveTo>
                    <a:pt x="0" y="0"/>
                  </a:moveTo>
                  <a:lnTo>
                    <a:pt x="1272838" y="0"/>
                  </a:lnTo>
                  <a:lnTo>
                    <a:pt x="1272838" y="764876"/>
                  </a:lnTo>
                  <a:lnTo>
                    <a:pt x="0" y="764876"/>
                  </a:lnTo>
                  <a:close/>
                </a:path>
              </a:pathLst>
            </a:custGeom>
            <a:blipFill>
              <a:blip r:embed="rId2"/>
              <a:stretch>
                <a:fillRect l="-76" t="0" r="-76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5143500"/>
            <a:ext cx="7871720" cy="4629818"/>
            <a:chOff x="0" y="0"/>
            <a:chExt cx="1219535" cy="71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535" cy="717280"/>
            </a:xfrm>
            <a:custGeom>
              <a:avLst/>
              <a:gdLst/>
              <a:ahLst/>
              <a:cxnLst/>
              <a:rect r="r" b="b" t="t" l="l"/>
              <a:pathLst>
                <a:path h="717280" w="1219535">
                  <a:moveTo>
                    <a:pt x="0" y="0"/>
                  </a:moveTo>
                  <a:lnTo>
                    <a:pt x="1219535" y="0"/>
                  </a:lnTo>
                  <a:lnTo>
                    <a:pt x="1219535" y="717280"/>
                  </a:lnTo>
                  <a:lnTo>
                    <a:pt x="0" y="717280"/>
                  </a:lnTo>
                  <a:close/>
                </a:path>
              </a:pathLst>
            </a:custGeom>
            <a:blipFill>
              <a:blip r:embed="rId3"/>
              <a:stretch>
                <a:fillRect l="-2273" t="0" r="-227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953966"/>
            <a:ext cx="7523897" cy="315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Product A0118150101 records 263 observed units and 4,048.94 gross revenue.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Customer 70002018 is the largest observed customer by both units and gross revenue.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70002018 contributes about 29.3% of observed unit sales.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sample contains limited repeat-purchase evidence, so concentration and loyalty should be monitored as the dataset expands.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262831"/>
            <a:ext cx="711377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5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Sales &amp; Customer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5837" y="6804025"/>
            <a:ext cx="7853463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Observed product-year gross margins range from approximately 69.07% to 71.41%.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A0118150101 reports 70.00% margin in 2018, 70.89% in 2019, 69.07% in 2020 and 71.05% in 2021.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margin band is relatively stable, but annual cost and price movements should continue to be monitored.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For the top observed product, estimated gross profit is 2,834.14.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5837" y="6078891"/>
            <a:ext cx="7580896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5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Profitability &amp; Cost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17145" y="5428428"/>
            <a:ext cx="8060533" cy="4494600"/>
            <a:chOff x="0" y="0"/>
            <a:chExt cx="1407117" cy="7846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117" cy="784617"/>
            </a:xfrm>
            <a:custGeom>
              <a:avLst/>
              <a:gdLst/>
              <a:ahLst/>
              <a:cxnLst/>
              <a:rect r="r" b="b" t="t" l="l"/>
              <a:pathLst>
                <a:path h="784617" w="1407117">
                  <a:moveTo>
                    <a:pt x="0" y="0"/>
                  </a:moveTo>
                  <a:lnTo>
                    <a:pt x="1407117" y="0"/>
                  </a:lnTo>
                  <a:lnTo>
                    <a:pt x="1407117" y="784617"/>
                  </a:lnTo>
                  <a:lnTo>
                    <a:pt x="0" y="784617"/>
                  </a:lnTo>
                  <a:close/>
                </a:path>
              </a:pathLst>
            </a:custGeom>
            <a:blipFill>
              <a:blip r:embed="rId2"/>
              <a:stretch>
                <a:fillRect l="0" t="-445" r="0" b="-44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7145" y="513682"/>
            <a:ext cx="8060533" cy="4717907"/>
            <a:chOff x="0" y="0"/>
            <a:chExt cx="1340516" cy="7846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0516" cy="784617"/>
            </a:xfrm>
            <a:custGeom>
              <a:avLst/>
              <a:gdLst/>
              <a:ahLst/>
              <a:cxnLst/>
              <a:rect r="r" b="b" t="t" l="l"/>
              <a:pathLst>
                <a:path h="784617" w="1340516">
                  <a:moveTo>
                    <a:pt x="0" y="0"/>
                  </a:moveTo>
                  <a:lnTo>
                    <a:pt x="1340516" y="0"/>
                  </a:lnTo>
                  <a:lnTo>
                    <a:pt x="1340516" y="784617"/>
                  </a:lnTo>
                  <a:lnTo>
                    <a:pt x="0" y="784617"/>
                  </a:lnTo>
                  <a:close/>
                </a:path>
              </a:pathLst>
            </a:custGeom>
            <a:blipFill>
              <a:blip r:embed="rId3"/>
              <a:stretch>
                <a:fillRect l="-2020" t="0" r="-202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61607" y="1787496"/>
            <a:ext cx="8192359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Customer 70002018 has the highest listed pre-invoice discount rate: 29.56%.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reported discount amount is 350.41 against gross revenue of 1,185.43.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Net invoice revenue after the deduction is 835.02.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Discount governance should link concessions to volume, margin and strategic account value.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722114"/>
            <a:ext cx="5260822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Discount Impact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6077116"/>
            <a:ext cx="8209967" cy="315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Forecast quantity: 81 units.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Actual quantity: 263 units.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Variance: +182 units.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Project formula: Actual ÷ Forecast × 100 = 324.69%.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Interpretation: actual demand was substantially above forecast; the planning process under-estimated demand.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Important: 324.69% is an actual-to-forecast ratio, not a conventional forecast-accuracy score.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5145864"/>
            <a:ext cx="8115300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Forecast vs Actual — Critical Finding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320970" y="721254"/>
            <a:ext cx="7739359" cy="4422246"/>
            <a:chOff x="0" y="0"/>
            <a:chExt cx="1728408" cy="9876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8408" cy="987607"/>
            </a:xfrm>
            <a:custGeom>
              <a:avLst/>
              <a:gdLst/>
              <a:ahLst/>
              <a:cxnLst/>
              <a:rect r="r" b="b" t="t" l="l"/>
              <a:pathLst>
                <a:path h="987607" w="1728408">
                  <a:moveTo>
                    <a:pt x="0" y="0"/>
                  </a:moveTo>
                  <a:lnTo>
                    <a:pt x="1728408" y="0"/>
                  </a:lnTo>
                  <a:lnTo>
                    <a:pt x="1728408" y="987607"/>
                  </a:lnTo>
                  <a:lnTo>
                    <a:pt x="0" y="987607"/>
                  </a:lnTo>
                  <a:close/>
                </a:path>
              </a:pathLst>
            </a:custGeom>
            <a:blipFill>
              <a:blip r:embed="rId2"/>
              <a:stretch>
                <a:fillRect l="-784" t="0" r="-78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766502"/>
            <a:ext cx="5961112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India: 2.78% average freight cost — highest among the three listed markets.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Germany: 2.26%.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Indonesia: 1.91%.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Use route, carrier and service-level data to determine whether the difference is structural or volume-related.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42975"/>
            <a:ext cx="491900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Freight &amp; Logistics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0546" y="5235116"/>
            <a:ext cx="6220424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Customer-Level Forecast Variance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1295" y="5809791"/>
            <a:ext cx="689998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Inventory &amp; Customer Loyalty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6469" y="6609431"/>
            <a:ext cx="6967231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70008169: forecast 2 vs actual 22 → +20 units.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70007198: forecast 4 vs actual 29 → +25 units.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70007199: forecast 7 vs actual 34 → +27 units.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70002018: forecast 11 vs actual 77 → +66 units — the largest absolute variance.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70008170 is the only listed customer below forecast: 8 forecast vs 5 actual.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51295" y="6584105"/>
            <a:ext cx="8241220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A0118150101: inventory 1,000, sales 263, simple turnover proxy 0.263.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A0118150102 and A0118150103: 1,000 inventory each with no observed sales — classified as slow/no movement.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11 observed active support customers are classified as Low Loyalty.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Each has one observed purchase month and one fiscal year with purchases.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Interpret carefully because the sample is limited.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28231" y="7908138"/>
            <a:ext cx="16431539" cy="2113332"/>
            <a:chOff x="0" y="0"/>
            <a:chExt cx="2545675" cy="3274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5675" cy="327410"/>
            </a:xfrm>
            <a:custGeom>
              <a:avLst/>
              <a:gdLst/>
              <a:ahLst/>
              <a:cxnLst/>
              <a:rect r="r" b="b" t="t" l="l"/>
              <a:pathLst>
                <a:path h="327410" w="2545675">
                  <a:moveTo>
                    <a:pt x="0" y="0"/>
                  </a:moveTo>
                  <a:lnTo>
                    <a:pt x="2545675" y="0"/>
                  </a:lnTo>
                  <a:lnTo>
                    <a:pt x="2545675" y="327410"/>
                  </a:lnTo>
                  <a:lnTo>
                    <a:pt x="0" y="32741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-328943" r="0" b="-15211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64584" y="2008457"/>
            <a:ext cx="1596087" cy="15960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90451" y="4397049"/>
            <a:ext cx="1596087" cy="159608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70878" y="2008457"/>
            <a:ext cx="1596087" cy="159608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256580" y="4532445"/>
            <a:ext cx="1047635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69% - 71%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33558" y="2509003"/>
            <a:ext cx="186117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4,048.94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537973" y="2008457"/>
            <a:ext cx="1596087" cy="159608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18068" y="4345457"/>
            <a:ext cx="1596087" cy="159608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966101" y="2008457"/>
            <a:ext cx="1596087" cy="159608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47855" y="4345457"/>
            <a:ext cx="1596087" cy="159608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423416" y="840133"/>
            <a:ext cx="11441168" cy="92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39"/>
              </a:lnSpc>
            </a:pPr>
            <a:r>
              <a:rPr lang="en-US" sz="639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KPI SNAPSHOT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68921" y="6250311"/>
            <a:ext cx="419522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Actual demand was 182 units above forecast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68058" y="3688470"/>
            <a:ext cx="423914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observed gross revenue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9349" y="3688470"/>
            <a:ext cx="423914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observed units sold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07203" y="3688470"/>
            <a:ext cx="423914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forecasted units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56580" y="3670698"/>
            <a:ext cx="423914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actual units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267784" y="2509003"/>
            <a:ext cx="10476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263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26113" y="2509003"/>
            <a:ext cx="10476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81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99373" y="6122518"/>
            <a:ext cx="432740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Revenue from top observed customer (70002018) 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73748" y="6250311"/>
            <a:ext cx="423914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Observed gross margins in the cost analysis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164677" y="4897595"/>
            <a:ext cx="10476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182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23784" y="4813433"/>
            <a:ext cx="138682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1,185.43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045104" y="2509003"/>
            <a:ext cx="10476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263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2024567"/>
            <a:ext cx="16194160" cy="4243361"/>
            <a:chOff x="0" y="0"/>
            <a:chExt cx="2508899" cy="6574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08899" cy="657408"/>
            </a:xfrm>
            <a:custGeom>
              <a:avLst/>
              <a:gdLst/>
              <a:ahLst/>
              <a:cxnLst/>
              <a:rect r="r" b="b" t="t" l="l"/>
              <a:pathLst>
                <a:path h="657408" w="2508899">
                  <a:moveTo>
                    <a:pt x="0" y="0"/>
                  </a:moveTo>
                  <a:lnTo>
                    <a:pt x="2508899" y="0"/>
                  </a:lnTo>
                  <a:lnTo>
                    <a:pt x="2508899" y="657408"/>
                  </a:lnTo>
                  <a:lnTo>
                    <a:pt x="0" y="657408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-57871" r="0" b="-4185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66800"/>
            <a:ext cx="6640212" cy="92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</a:pPr>
            <a:r>
              <a:rPr lang="en-US" sz="639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KEY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4779" y="7152942"/>
            <a:ext cx="444293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Demand forecasting is the clearest operational improvement opportunity.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4779" y="6575092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10539" y="7152942"/>
            <a:ext cx="486692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Observed sales are heavily concentrated in one product and one market/channel.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10539" y="6537803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24243" y="7152942"/>
            <a:ext cx="4555998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High-volume customer 70002018 also carries a relatively high discount rate.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24243" y="6537803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779" y="8139112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0539" y="8139112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88296" y="8139112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10539" y="8716962"/>
            <a:ext cx="486692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Inventory should be differentiated between active and non-moving products.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4779" y="8716962"/>
            <a:ext cx="4442935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Observed gross margins are strong and comparatively stable in the available cost records.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88296" y="8716962"/>
            <a:ext cx="379282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Customer retention evidence is weak in the current sample.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11365" y="513682"/>
            <a:ext cx="6081272" cy="9259635"/>
            <a:chOff x="0" y="0"/>
            <a:chExt cx="942148" cy="143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2148" cy="1434560"/>
            </a:xfrm>
            <a:custGeom>
              <a:avLst/>
              <a:gdLst/>
              <a:ahLst/>
              <a:cxnLst/>
              <a:rect r="r" b="b" t="t" l="l"/>
              <a:pathLst>
                <a:path h="1434560" w="942148">
                  <a:moveTo>
                    <a:pt x="0" y="0"/>
                  </a:moveTo>
                  <a:lnTo>
                    <a:pt x="942148" y="0"/>
                  </a:lnTo>
                  <a:lnTo>
                    <a:pt x="942148" y="1434560"/>
                  </a:lnTo>
                  <a:lnTo>
                    <a:pt x="0" y="143456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-64198" t="0" r="-6419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571933" y="767010"/>
            <a:ext cx="9119487" cy="92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</a:pPr>
            <a:r>
              <a:rPr lang="en-US" sz="639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22797" y="2502465"/>
            <a:ext cx="3481759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Recalibrate forecasts using customer-product history and rolling actual demand.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35277" y="1781740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4256" y="4390466"/>
            <a:ext cx="3481759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Review high discounts against volume and contribution margin.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22797" y="3733596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34715" y="2502465"/>
            <a:ext cx="3836327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Track forecast bias, MAE/MAPE or WAPE alongside the project's actual-to-forecast ratio.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34715" y="1781740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34715" y="4390466"/>
            <a:ext cx="3856873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Prioritize replenishment for demonstrated demand and investigate non-moving inventory.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34715" y="3733596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95020" y="5711825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33070" y="5711825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95020" y="6461125"/>
            <a:ext cx="347294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Investigate freight drivers in India.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33070" y="6461125"/>
            <a:ext cx="3472946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Build retention/reorder triggers for high-volume accounts.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35277" y="8398193"/>
            <a:ext cx="3472946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Add missing CAC, competitor, satisfaction and campaign datasets.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35277" y="7677150"/>
            <a:ext cx="385687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6615754"/>
            <a:ext cx="16431539" cy="3157564"/>
            <a:chOff x="0" y="0"/>
            <a:chExt cx="2545675" cy="4891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5675" cy="489189"/>
            </a:xfrm>
            <a:custGeom>
              <a:avLst/>
              <a:gdLst/>
              <a:ahLst/>
              <a:cxnLst/>
              <a:rect r="r" b="b" t="t" l="l"/>
              <a:pathLst>
                <a:path h="489189" w="2545675">
                  <a:moveTo>
                    <a:pt x="0" y="0"/>
                  </a:moveTo>
                  <a:lnTo>
                    <a:pt x="2545675" y="0"/>
                  </a:lnTo>
                  <a:lnTo>
                    <a:pt x="2545675" y="489189"/>
                  </a:lnTo>
                  <a:lnTo>
                    <a:pt x="0" y="489189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-77503" r="0" b="-7750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006281"/>
            <a:ext cx="2944507" cy="29445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515732" y="3984600"/>
            <a:ext cx="2944507" cy="294450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39436" y="1813568"/>
            <a:ext cx="2944507" cy="294450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84068" y="2006281"/>
            <a:ext cx="2944507" cy="294450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44469" y="3984600"/>
            <a:ext cx="2944507" cy="294450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62606" y="3984600"/>
            <a:ext cx="2944507" cy="294450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1E1E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784191" y="884563"/>
            <a:ext cx="11441168" cy="92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39"/>
              </a:lnSpc>
            </a:pPr>
            <a:r>
              <a:rPr lang="en-US" sz="639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LIMITATIONS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8240" y="2565722"/>
            <a:ext cx="2494367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CAC cannot be calculated without acquisition spend and acquired-customer data.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64933" y="4700926"/>
            <a:ext cx="2494367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Expand the historical dataset before making enterprise-wide strategic conclusions.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04775" y="4700926"/>
            <a:ext cx="2494367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Marketing effectiveness needs campaign, spend and response data.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06903" y="4720254"/>
            <a:ext cx="2494367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Competitor benchmarking needs competitor price/product data.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28608" y="2918147"/>
            <a:ext cx="2494367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Customer satisfaction needs feedback/survey data.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62250" y="2389509"/>
            <a:ext cx="2494367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Inventory turnover needs historical inventory snapshots for a stronger measure.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5143500"/>
            <a:ext cx="9357982" cy="4626580"/>
            <a:chOff x="0" y="0"/>
            <a:chExt cx="1417542" cy="7008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7542" cy="700832"/>
            </a:xfrm>
            <a:custGeom>
              <a:avLst/>
              <a:gdLst/>
              <a:ahLst/>
              <a:cxnLst/>
              <a:rect r="r" b="b" t="t" l="l"/>
              <a:pathLst>
                <a:path h="700832" w="1417542">
                  <a:moveTo>
                    <a:pt x="0" y="0"/>
                  </a:moveTo>
                  <a:lnTo>
                    <a:pt x="1417542" y="0"/>
                  </a:lnTo>
                  <a:lnTo>
                    <a:pt x="1417542" y="700832"/>
                  </a:lnTo>
                  <a:lnTo>
                    <a:pt x="0" y="700832"/>
                  </a:lnTo>
                  <a:close/>
                </a:path>
              </a:pathLst>
            </a:custGeom>
            <a:blipFill>
              <a:blip r:embed="rId2"/>
              <a:stretch>
                <a:fillRect l="0" t="-5833" r="0" b="-583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868084"/>
            <a:ext cx="9357982" cy="4029133"/>
            <a:chOff x="0" y="0"/>
            <a:chExt cx="1627737" cy="700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7737" cy="700832"/>
            </a:xfrm>
            <a:custGeom>
              <a:avLst/>
              <a:gdLst/>
              <a:ahLst/>
              <a:cxnLst/>
              <a:rect r="r" b="b" t="t" l="l"/>
              <a:pathLst>
                <a:path h="700832" w="1627737">
                  <a:moveTo>
                    <a:pt x="0" y="0"/>
                  </a:moveTo>
                  <a:lnTo>
                    <a:pt x="1627737" y="0"/>
                  </a:lnTo>
                  <a:lnTo>
                    <a:pt x="1627737" y="700832"/>
                  </a:lnTo>
                  <a:lnTo>
                    <a:pt x="0" y="700832"/>
                  </a:lnTo>
                  <a:close/>
                </a:path>
              </a:pathLst>
            </a:custGeom>
            <a:blipFill>
              <a:blip r:embed="rId3"/>
              <a:stretch>
                <a:fillRect l="0" t="-32230" r="0" b="-3223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93506" y="1381017"/>
            <a:ext cx="5532682" cy="84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</a:pPr>
            <a:r>
              <a:rPr lang="en-US" sz="59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53976" y="2605294"/>
            <a:ext cx="5211741" cy="639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project demonstrates an end-to-end SQL analytics framework connecting finance and supply-chain decisions.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strongest observed signal is substantial under-forecasting of demand. Discount management, product/inventory focus and customer retention are additional decision areas.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With richer historical and commercial data, the model can be extended into a recurring management dashboard.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30539" y="513682"/>
            <a:ext cx="16405949" cy="9259635"/>
            <a:chOff x="0" y="0"/>
            <a:chExt cx="2541711" cy="143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1711" cy="1434560"/>
            </a:xfrm>
            <a:custGeom>
              <a:avLst/>
              <a:gdLst/>
              <a:ahLst/>
              <a:cxnLst/>
              <a:rect r="r" b="b" t="t" l="l"/>
              <a:pathLst>
                <a:path h="1434560" w="2541711">
                  <a:moveTo>
                    <a:pt x="0" y="0"/>
                  </a:moveTo>
                  <a:lnTo>
                    <a:pt x="2541711" y="0"/>
                  </a:lnTo>
                  <a:lnTo>
                    <a:pt x="2541711" y="1434560"/>
                  </a:lnTo>
                  <a:lnTo>
                    <a:pt x="0" y="143456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-82882" r="0" b="-8288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76806" y="4241772"/>
            <a:ext cx="12528427" cy="351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72"/>
              </a:lnSpc>
            </a:pPr>
            <a:r>
              <a:rPr lang="en-US" sz="12429" spc="357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THANK</a:t>
            </a:r>
          </a:p>
          <a:p>
            <a:pPr algn="ctr" marL="0" indent="0" lvl="0">
              <a:lnSpc>
                <a:spcPts val="13672"/>
              </a:lnSpc>
            </a:pPr>
            <a:r>
              <a:rPr lang="en-US" sz="12429" spc="357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DAHWnShk50o</dc:identifier>
  <dcterms:modified xsi:type="dcterms:W3CDTF">2011-08-01T06:04:30Z</dcterms:modified>
  <cp:revision>1</cp:revision>
  <dc:title>AtliQ Supply Chain &amp; Finance Analytics</dc:title>
</cp:coreProperties>
</file>